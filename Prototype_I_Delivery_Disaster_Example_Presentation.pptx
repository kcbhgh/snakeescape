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32" y="100"/>
      </p:cViewPr>
      <p:guideLst>
        <p:guide orient="horz" pos="11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663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772E1D-686B-B82F-2B6E-F12C4B9967A7}"/>
              </a:ext>
            </a:extLst>
          </p:cNvPr>
          <p:cNvSpPr/>
          <p:nvPr userDrawn="1"/>
        </p:nvSpPr>
        <p:spPr>
          <a:xfrm flipV="1">
            <a:off x="-1" y="6419088"/>
            <a:ext cx="12192001" cy="438912"/>
          </a:xfrm>
          <a:prstGeom prst="rect">
            <a:avLst/>
          </a:prstGeom>
          <a:solidFill>
            <a:srgbClr val="F1B72A"/>
          </a:solidFill>
          <a:ln w="12700">
            <a:solidFill>
              <a:srgbClr val="F1B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16">
            <a:extLst>
              <a:ext uri="{FF2B5EF4-FFF2-40B4-BE49-F238E27FC236}">
                <a16:creationId xmlns:a16="http://schemas.microsoft.com/office/drawing/2014/main" id="{02AA2806-181D-708A-782C-025E35AC9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559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97866-4220-1A49-9E3D-1BFC240C11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BF2EB339-D391-D371-B448-2DFC9A50A93A}"/>
              </a:ext>
            </a:extLst>
          </p:cNvPr>
          <p:cNvSpPr/>
          <p:nvPr userDrawn="1"/>
        </p:nvSpPr>
        <p:spPr>
          <a:xfrm flipV="1">
            <a:off x="-1" y="6419088"/>
            <a:ext cx="12192001" cy="438912"/>
          </a:xfrm>
          <a:prstGeom prst="rect">
            <a:avLst/>
          </a:prstGeom>
          <a:solidFill>
            <a:srgbClr val="F1B72A"/>
          </a:solidFill>
          <a:ln w="12700">
            <a:solidFill>
              <a:srgbClr val="F1B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5CF6B2E-0892-608B-5BA9-CC2EC7E25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6528" y="64559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397866-4220-1A49-9E3D-1BFC240C11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24000" y="1284732"/>
            <a:ext cx="9144000" cy="91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kern="0" spc="13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CMP_SC / INFOTC 4630</a:t>
            </a:r>
          </a:p>
          <a:p>
            <a:pPr marL="0" indent="0" algn="ctr">
              <a:buNone/>
            </a:pPr>
            <a:r>
              <a:rPr lang="en-US" sz="2000" b="1" kern="0" spc="13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2000" dirty="0">
              <a:latin typeface="Avenir Next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6800" y="26824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Snake Escape</a:t>
            </a:r>
            <a:endParaRPr lang="en-US" sz="4400" dirty="0">
              <a:latin typeface="Avenir Next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87365" y="3679156"/>
            <a:ext cx="9144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Prototype I</a:t>
            </a:r>
            <a:endParaRPr lang="en-US" sz="2800" dirty="0">
              <a:latin typeface="Avenir Next" panose="020B05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" y="4566124"/>
            <a:ext cx="9144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Presented By Kyle Blank</a:t>
            </a:r>
            <a:endParaRPr lang="en-US" sz="2000" dirty="0">
              <a:latin typeface="Avenir Next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57378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400" dirty="0">
              <a:latin typeface="Avenir Next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32737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The idea in one sentence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2750875"/>
            <a:ext cx="5437632" cy="238397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242888">
              <a:buNone/>
            </a:pPr>
            <a:r>
              <a:rPr lang="en-US" sz="2400" b="1" dirty="0">
                <a:latin typeface="Avenir Next" panose="020B0503020202020204" pitchFamily="34" charset="0"/>
              </a:rPr>
              <a:t>Maneuver obstacles and snakes to get to the tree before being bitten 3 times. 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5894615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My goal is to make a increasingly fast paced escape runner inspired by the Galapagos Iguana and racer snakes. 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B37671C-B41B-7A86-E71F-08B05E5E7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86D0E67-9A87-B61B-735F-1752AA262CB8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8ECE0B3-6F17-D143-50EF-2C905798AA4E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  <p:pic>
        <p:nvPicPr>
          <p:cNvPr id="2" name="Picture 1" descr="Planet Earth: Iguana chase scene was not faked, says BBC">
            <a:extLst>
              <a:ext uri="{FF2B5EF4-FFF2-40B4-BE49-F238E27FC236}">
                <a16:creationId xmlns:a16="http://schemas.microsoft.com/office/drawing/2014/main" id="{B89BC45A-CFD7-E810-30D0-42FD64E9B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693" y="1340573"/>
            <a:ext cx="2635395" cy="14788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18D165-68FD-C0CC-C886-1FE96B712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719" y="3144105"/>
            <a:ext cx="4822399" cy="2308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5225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Main gameplay loop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2375" y="5437924"/>
            <a:ext cx="44205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Win</a:t>
            </a:r>
            <a:r>
              <a:rPr lang="en-US" sz="24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 after 3 deliveries,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Lose</a:t>
            </a:r>
            <a:r>
              <a:rPr lang="en-US" sz="24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 when lives reach 0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42" name="Slide Number Placeholder 141">
            <a:extLst>
              <a:ext uri="{FF2B5EF4-FFF2-40B4-BE49-F238E27FC236}">
                <a16:creationId xmlns:a16="http://schemas.microsoft.com/office/drawing/2014/main" id="{AF9D6706-74AA-95F4-9048-C656B1782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B22D2D5-7DD4-F8BC-2B07-039B1661412E}"/>
              </a:ext>
            </a:extLst>
          </p:cNvPr>
          <p:cNvGrpSpPr/>
          <p:nvPr/>
        </p:nvGrpSpPr>
        <p:grpSpPr>
          <a:xfrm>
            <a:off x="5294501" y="1085390"/>
            <a:ext cx="6175124" cy="5153875"/>
            <a:chOff x="2886568" y="1485684"/>
            <a:chExt cx="5930058" cy="4949338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93FA3B5-9107-470D-F4E7-370383F05699}"/>
                </a:ext>
              </a:extLst>
            </p:cNvPr>
            <p:cNvSpPr/>
            <p:nvPr/>
          </p:nvSpPr>
          <p:spPr>
            <a:xfrm>
              <a:off x="3924481" y="1893307"/>
              <a:ext cx="3886087" cy="388608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Shape 80">
              <a:extLst>
                <a:ext uri="{FF2B5EF4-FFF2-40B4-BE49-F238E27FC236}">
                  <a16:creationId xmlns:a16="http://schemas.microsoft.com/office/drawing/2014/main" id="{DE63BAD3-13A8-1F28-E303-B6F904084C57}"/>
                </a:ext>
              </a:extLst>
            </p:cNvPr>
            <p:cNvSpPr/>
            <p:nvPr/>
          </p:nvSpPr>
          <p:spPr>
            <a:xfrm>
              <a:off x="4962123" y="1649104"/>
              <a:ext cx="1911353" cy="789665"/>
            </a:xfrm>
            <a:prstGeom prst="roundRect">
              <a:avLst>
                <a:gd name="adj" fmla="val 13636"/>
              </a:avLst>
            </a:prstGeom>
            <a:solidFill>
              <a:srgbClr val="FAFAF9"/>
            </a:solidFill>
            <a:ln w="16510">
              <a:solidFill>
                <a:srgbClr val="CFCFCB"/>
              </a:solidFill>
              <a:prstDash val="solid"/>
            </a:ln>
          </p:spPr>
          <p:txBody>
            <a:bodyPr/>
            <a:lstStyle/>
            <a:p>
              <a:endParaRPr lang="en-US" sz="1200" dirty="0">
                <a:latin typeface="Avenir Next" panose="020B0503020202020204" pitchFamily="34" charset="0"/>
              </a:endParaRPr>
            </a:p>
          </p:txBody>
        </p:sp>
        <p:sp>
          <p:nvSpPr>
            <p:cNvPr id="114" name="Text 83">
              <a:extLst>
                <a:ext uri="{FF2B5EF4-FFF2-40B4-BE49-F238E27FC236}">
                  <a16:creationId xmlns:a16="http://schemas.microsoft.com/office/drawing/2014/main" id="{116E4796-D8D7-E6FF-A1C8-BCA820C8C839}"/>
                </a:ext>
              </a:extLst>
            </p:cNvPr>
            <p:cNvSpPr/>
            <p:nvPr/>
          </p:nvSpPr>
          <p:spPr>
            <a:xfrm>
              <a:off x="5035873" y="1871646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  <a:ea typeface="Aptos Display" pitchFamily="34" charset="-122"/>
                  <a:cs typeface="Aptos Display" pitchFamily="34" charset="-120"/>
                </a:rPr>
                <a:t>Spawn at top of lane</a:t>
              </a:r>
              <a:endParaRPr lang="en-US" sz="1400" dirty="0">
                <a:latin typeface="Avenir Next" panose="020B0503020202020204" pitchFamily="34" charset="0"/>
              </a:endParaRPr>
            </a:p>
          </p:txBody>
        </p:sp>
        <p:sp>
          <p:nvSpPr>
            <p:cNvPr id="115" name="Shape 84">
              <a:extLst>
                <a:ext uri="{FF2B5EF4-FFF2-40B4-BE49-F238E27FC236}">
                  <a16:creationId xmlns:a16="http://schemas.microsoft.com/office/drawing/2014/main" id="{433F5B19-6F1C-CD80-196C-9F0819E85775}"/>
                </a:ext>
              </a:extLst>
            </p:cNvPr>
            <p:cNvSpPr/>
            <p:nvPr/>
          </p:nvSpPr>
          <p:spPr>
            <a:xfrm>
              <a:off x="6905273" y="2767787"/>
              <a:ext cx="1911353" cy="789665"/>
            </a:xfrm>
            <a:prstGeom prst="roundRect">
              <a:avLst>
                <a:gd name="adj" fmla="val 13636"/>
              </a:avLst>
            </a:prstGeom>
            <a:solidFill>
              <a:srgbClr val="FAFAF9"/>
            </a:solidFill>
            <a:ln w="16510">
              <a:solidFill>
                <a:srgbClr val="CFCFCB"/>
              </a:solidFill>
              <a:prstDash val="solid"/>
            </a:ln>
          </p:spPr>
          <p:txBody>
            <a:bodyPr/>
            <a:lstStyle/>
            <a:p>
              <a:endParaRPr lang="en-US" sz="1200">
                <a:latin typeface="Avenir Next" panose="020B0503020202020204" pitchFamily="34" charset="0"/>
              </a:endParaRPr>
            </a:p>
          </p:txBody>
        </p:sp>
        <p:sp>
          <p:nvSpPr>
            <p:cNvPr id="118" name="Text 87">
              <a:extLst>
                <a:ext uri="{FF2B5EF4-FFF2-40B4-BE49-F238E27FC236}">
                  <a16:creationId xmlns:a16="http://schemas.microsoft.com/office/drawing/2014/main" id="{7F53D8A7-E883-B98D-4924-ED8ED26ECA56}"/>
                </a:ext>
              </a:extLst>
            </p:cNvPr>
            <p:cNvSpPr/>
            <p:nvPr/>
          </p:nvSpPr>
          <p:spPr>
            <a:xfrm>
              <a:off x="6979023" y="3003644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</a:rPr>
                <a:t>Maneuver down the canyon</a:t>
              </a:r>
            </a:p>
          </p:txBody>
        </p:sp>
        <p:sp>
          <p:nvSpPr>
            <p:cNvPr id="119" name="Shape 88">
              <a:extLst>
                <a:ext uri="{FF2B5EF4-FFF2-40B4-BE49-F238E27FC236}">
                  <a16:creationId xmlns:a16="http://schemas.microsoft.com/office/drawing/2014/main" id="{83942061-8E24-2236-270B-6B34E9E38894}"/>
                </a:ext>
              </a:extLst>
            </p:cNvPr>
            <p:cNvSpPr/>
            <p:nvPr/>
          </p:nvSpPr>
          <p:spPr>
            <a:xfrm>
              <a:off x="6797012" y="4147871"/>
              <a:ext cx="1911353" cy="789665"/>
            </a:xfrm>
            <a:prstGeom prst="roundRect">
              <a:avLst>
                <a:gd name="adj" fmla="val 13636"/>
              </a:avLst>
            </a:prstGeom>
            <a:solidFill>
              <a:srgbClr val="FAFAF9"/>
            </a:solidFill>
            <a:ln w="16510">
              <a:solidFill>
                <a:srgbClr val="CFCFCB"/>
              </a:solidFill>
              <a:prstDash val="solid"/>
            </a:ln>
          </p:spPr>
          <p:txBody>
            <a:bodyPr/>
            <a:lstStyle/>
            <a:p>
              <a:endParaRPr lang="en-US" sz="1200">
                <a:latin typeface="Avenir Next" panose="020B0503020202020204" pitchFamily="34" charset="0"/>
              </a:endParaRPr>
            </a:p>
          </p:txBody>
        </p:sp>
        <p:sp>
          <p:nvSpPr>
            <p:cNvPr id="122" name="Text 91">
              <a:extLst>
                <a:ext uri="{FF2B5EF4-FFF2-40B4-BE49-F238E27FC236}">
                  <a16:creationId xmlns:a16="http://schemas.microsoft.com/office/drawing/2014/main" id="{44A53796-9672-9614-9352-35915E67455B}"/>
                </a:ext>
              </a:extLst>
            </p:cNvPr>
            <p:cNvSpPr/>
            <p:nvPr/>
          </p:nvSpPr>
          <p:spPr>
            <a:xfrm>
              <a:off x="6905273" y="4369207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  <a:ea typeface="Aptos Display" pitchFamily="34" charset="-122"/>
                  <a:cs typeface="Aptos Display" pitchFamily="34" charset="-120"/>
                </a:rPr>
                <a:t>Avoid snakes (can be bitten 3 times) </a:t>
              </a:r>
              <a:endParaRPr lang="en-US" sz="1400" dirty="0">
                <a:latin typeface="Avenir Next" panose="020B0503020202020204" pitchFamily="34" charset="0"/>
              </a:endParaRPr>
            </a:p>
          </p:txBody>
        </p:sp>
        <p:sp>
          <p:nvSpPr>
            <p:cNvPr id="123" name="Shape 92">
              <a:extLst>
                <a:ext uri="{FF2B5EF4-FFF2-40B4-BE49-F238E27FC236}">
                  <a16:creationId xmlns:a16="http://schemas.microsoft.com/office/drawing/2014/main" id="{AD64FBF7-D982-220F-AA5C-B047024F8FE9}"/>
                </a:ext>
              </a:extLst>
            </p:cNvPr>
            <p:cNvSpPr/>
            <p:nvPr/>
          </p:nvSpPr>
          <p:spPr>
            <a:xfrm>
              <a:off x="4885659" y="5108215"/>
              <a:ext cx="1911353" cy="1213425"/>
            </a:xfrm>
            <a:prstGeom prst="roundRect">
              <a:avLst>
                <a:gd name="adj" fmla="val 13636"/>
              </a:avLst>
            </a:prstGeom>
            <a:solidFill>
              <a:srgbClr val="FFF4D9"/>
            </a:solidFill>
            <a:ln w="27940">
              <a:solidFill>
                <a:srgbClr val="F4BD42"/>
              </a:solidFill>
              <a:prstDash val="solid"/>
            </a:ln>
          </p:spPr>
          <p:txBody>
            <a:bodyPr/>
            <a:lstStyle/>
            <a:p>
              <a:endParaRPr lang="en-US" sz="1200" dirty="0">
                <a:latin typeface="Avenir Next" panose="020B0503020202020204" pitchFamily="34" charset="0"/>
              </a:endParaRPr>
            </a:p>
          </p:txBody>
        </p:sp>
        <p:sp>
          <p:nvSpPr>
            <p:cNvPr id="126" name="Text 95">
              <a:extLst>
                <a:ext uri="{FF2B5EF4-FFF2-40B4-BE49-F238E27FC236}">
                  <a16:creationId xmlns:a16="http://schemas.microsoft.com/office/drawing/2014/main" id="{5FD73C01-D70C-3696-E52C-1D9582B4DAF9}"/>
                </a:ext>
              </a:extLst>
            </p:cNvPr>
            <p:cNvSpPr/>
            <p:nvPr/>
          </p:nvSpPr>
          <p:spPr>
            <a:xfrm>
              <a:off x="4985597" y="6047368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  <a:ea typeface="Aptos Display" pitchFamily="34" charset="-122"/>
                  <a:cs typeface="Aptos Display" pitchFamily="34" charset="-120"/>
                </a:rPr>
                <a:t>Reach the safe zone (tree)</a:t>
              </a:r>
              <a:endParaRPr lang="en-US" sz="1400" dirty="0">
                <a:latin typeface="Avenir Next" panose="020B0503020202020204" pitchFamily="34" charset="0"/>
              </a:endParaRPr>
            </a:p>
          </p:txBody>
        </p:sp>
        <p:sp>
          <p:nvSpPr>
            <p:cNvPr id="127" name="Shape 96">
              <a:extLst>
                <a:ext uri="{FF2B5EF4-FFF2-40B4-BE49-F238E27FC236}">
                  <a16:creationId xmlns:a16="http://schemas.microsoft.com/office/drawing/2014/main" id="{59525889-1340-5C40-CFB2-D1888CDC071B}"/>
                </a:ext>
              </a:extLst>
            </p:cNvPr>
            <p:cNvSpPr/>
            <p:nvPr/>
          </p:nvSpPr>
          <p:spPr>
            <a:xfrm>
              <a:off x="2968804" y="4123564"/>
              <a:ext cx="1911353" cy="789665"/>
            </a:xfrm>
            <a:prstGeom prst="roundRect">
              <a:avLst>
                <a:gd name="adj" fmla="val 13636"/>
              </a:avLst>
            </a:prstGeom>
            <a:solidFill>
              <a:srgbClr val="FAFAF9"/>
            </a:solidFill>
            <a:ln w="16510">
              <a:solidFill>
                <a:srgbClr val="CFCFCB"/>
              </a:solidFill>
              <a:prstDash val="solid"/>
            </a:ln>
          </p:spPr>
          <p:txBody>
            <a:bodyPr/>
            <a:lstStyle/>
            <a:p>
              <a:endParaRPr lang="en-US" sz="1200">
                <a:latin typeface="Avenir Next" panose="020B0503020202020204" pitchFamily="34" charset="0"/>
              </a:endParaRPr>
            </a:p>
          </p:txBody>
        </p:sp>
        <p:sp>
          <p:nvSpPr>
            <p:cNvPr id="130" name="Text 99">
              <a:extLst>
                <a:ext uri="{FF2B5EF4-FFF2-40B4-BE49-F238E27FC236}">
                  <a16:creationId xmlns:a16="http://schemas.microsoft.com/office/drawing/2014/main" id="{A272D893-1B4F-F37B-60C3-F3C2F8A3E4FE}"/>
                </a:ext>
              </a:extLst>
            </p:cNvPr>
            <p:cNvSpPr/>
            <p:nvPr/>
          </p:nvSpPr>
          <p:spPr>
            <a:xfrm>
              <a:off x="3042554" y="4346106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  <a:ea typeface="Aptos Display" pitchFamily="34" charset="-122"/>
                  <a:cs typeface="Aptos Display" pitchFamily="34" charset="-120"/>
                </a:rPr>
                <a:t>Update progress</a:t>
              </a:r>
              <a:endParaRPr lang="en-US" sz="1400" dirty="0">
                <a:latin typeface="Avenir Next" panose="020B0503020202020204" pitchFamily="34" charset="0"/>
              </a:endParaRPr>
            </a:p>
          </p:txBody>
        </p:sp>
        <p:sp>
          <p:nvSpPr>
            <p:cNvPr id="131" name="Shape 100">
              <a:extLst>
                <a:ext uri="{FF2B5EF4-FFF2-40B4-BE49-F238E27FC236}">
                  <a16:creationId xmlns:a16="http://schemas.microsoft.com/office/drawing/2014/main" id="{5C3A1C5D-E21F-858A-8A44-7507C2133C0B}"/>
                </a:ext>
              </a:extLst>
            </p:cNvPr>
            <p:cNvSpPr/>
            <p:nvPr/>
          </p:nvSpPr>
          <p:spPr>
            <a:xfrm>
              <a:off x="2886568" y="2694608"/>
              <a:ext cx="1911353" cy="789665"/>
            </a:xfrm>
            <a:prstGeom prst="roundRect">
              <a:avLst>
                <a:gd name="adj" fmla="val 13636"/>
              </a:avLst>
            </a:prstGeom>
            <a:solidFill>
              <a:srgbClr val="FAFAF9"/>
            </a:solidFill>
            <a:ln w="16510">
              <a:solidFill>
                <a:srgbClr val="CFCFCB"/>
              </a:solidFill>
              <a:prstDash val="solid"/>
            </a:ln>
          </p:spPr>
          <p:txBody>
            <a:bodyPr/>
            <a:lstStyle/>
            <a:p>
              <a:endParaRPr lang="en-US" sz="1200">
                <a:latin typeface="Avenir Next" panose="020B0503020202020204" pitchFamily="34" charset="0"/>
              </a:endParaRPr>
            </a:p>
          </p:txBody>
        </p:sp>
        <p:sp>
          <p:nvSpPr>
            <p:cNvPr id="134" name="Text 103">
              <a:extLst>
                <a:ext uri="{FF2B5EF4-FFF2-40B4-BE49-F238E27FC236}">
                  <a16:creationId xmlns:a16="http://schemas.microsoft.com/office/drawing/2014/main" id="{B7CE3D97-AB6A-C9E9-9B84-AFF0D4061D2D}"/>
                </a:ext>
              </a:extLst>
            </p:cNvPr>
            <p:cNvSpPr/>
            <p:nvPr/>
          </p:nvSpPr>
          <p:spPr>
            <a:xfrm>
              <a:off x="2960318" y="2917150"/>
              <a:ext cx="1763854" cy="387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02932"/>
                  </a:solidFill>
                  <a:latin typeface="Avenir Next" panose="020B0503020202020204" pitchFamily="34" charset="0"/>
                  <a:ea typeface="Aptos Display" pitchFamily="34" charset="-122"/>
                  <a:cs typeface="Aptos Display" pitchFamily="34" charset="-120"/>
                </a:rPr>
                <a:t>Repeat / end</a:t>
              </a:r>
              <a:endParaRPr lang="en-US" sz="1400" dirty="0">
                <a:latin typeface="Avenir Next" panose="020B0503020202020204" pitchFamily="34" charset="0"/>
              </a:endParaRPr>
            </a:p>
          </p:txBody>
        </p:sp>
        <p:sp>
          <p:nvSpPr>
            <p:cNvPr id="116" name="Shape 85">
              <a:extLst>
                <a:ext uri="{FF2B5EF4-FFF2-40B4-BE49-F238E27FC236}">
                  <a16:creationId xmlns:a16="http://schemas.microsoft.com/office/drawing/2014/main" id="{16235A14-06DF-891B-C262-336CA61D5A96}"/>
                </a:ext>
              </a:extLst>
            </p:cNvPr>
            <p:cNvSpPr/>
            <p:nvPr/>
          </p:nvSpPr>
          <p:spPr>
            <a:xfrm>
              <a:off x="5756148" y="1485684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1</a:t>
              </a:r>
            </a:p>
          </p:txBody>
        </p:sp>
        <p:sp>
          <p:nvSpPr>
            <p:cNvPr id="135" name="Text 104">
              <a:extLst>
                <a:ext uri="{FF2B5EF4-FFF2-40B4-BE49-F238E27FC236}">
                  <a16:creationId xmlns:a16="http://schemas.microsoft.com/office/drawing/2014/main" id="{52F1F343-2370-C5D0-A6E6-7AEB1CF5C839}"/>
                </a:ext>
              </a:extLst>
            </p:cNvPr>
            <p:cNvSpPr/>
            <p:nvPr/>
          </p:nvSpPr>
          <p:spPr>
            <a:xfrm>
              <a:off x="4850187" y="3204059"/>
              <a:ext cx="2037953" cy="1166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latin typeface="Avenir Next" panose="020B0503020202020204" pitchFamily="34" charset="0"/>
                  <a:ea typeface="Aptos" pitchFamily="34" charset="-122"/>
                  <a:cs typeface="Aptos" pitchFamily="34" charset="-120"/>
                </a:rPr>
                <a:t>Continue while Playing</a:t>
              </a:r>
              <a:endParaRPr lang="en-US" sz="1600" dirty="0">
                <a:latin typeface="Avenir Next" panose="020B0503020202020204" pitchFamily="34" charset="0"/>
              </a:endParaRPr>
            </a:p>
            <a:p>
              <a:pPr marL="0" indent="0" algn="ctr">
                <a:buNone/>
              </a:pPr>
              <a:r>
                <a:rPr lang="en-US" sz="1600" dirty="0">
                  <a:latin typeface="Avenir Next" panose="020B0503020202020204" pitchFamily="34" charset="0"/>
                  <a:ea typeface="Aptos" pitchFamily="34" charset="-122"/>
                  <a:cs typeface="Aptos" pitchFamily="34" charset="-120"/>
                </a:rPr>
                <a:t>Restart on Win / Loss</a:t>
              </a:r>
              <a:endParaRPr lang="en-US" sz="1600" dirty="0">
                <a:latin typeface="Avenir Next" panose="020B0503020202020204" pitchFamily="34" charset="0"/>
              </a:endParaRPr>
            </a:p>
          </p:txBody>
        </p:sp>
        <p:sp>
          <p:nvSpPr>
            <p:cNvPr id="152" name="Shape 85">
              <a:extLst>
                <a:ext uri="{FF2B5EF4-FFF2-40B4-BE49-F238E27FC236}">
                  <a16:creationId xmlns:a16="http://schemas.microsoft.com/office/drawing/2014/main" id="{5D6C7009-C389-C9E3-3FB0-66E9BEB61148}"/>
                </a:ext>
              </a:extLst>
            </p:cNvPr>
            <p:cNvSpPr/>
            <p:nvPr/>
          </p:nvSpPr>
          <p:spPr>
            <a:xfrm>
              <a:off x="7752688" y="2589479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2</a:t>
              </a:r>
            </a:p>
          </p:txBody>
        </p:sp>
        <p:sp>
          <p:nvSpPr>
            <p:cNvPr id="153" name="Shape 85">
              <a:extLst>
                <a:ext uri="{FF2B5EF4-FFF2-40B4-BE49-F238E27FC236}">
                  <a16:creationId xmlns:a16="http://schemas.microsoft.com/office/drawing/2014/main" id="{24B5C529-B578-5FFA-BDE3-7D7D94899037}"/>
                </a:ext>
              </a:extLst>
            </p:cNvPr>
            <p:cNvSpPr/>
            <p:nvPr/>
          </p:nvSpPr>
          <p:spPr>
            <a:xfrm>
              <a:off x="7603320" y="3989490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3</a:t>
              </a:r>
            </a:p>
          </p:txBody>
        </p:sp>
        <p:sp>
          <p:nvSpPr>
            <p:cNvPr id="154" name="Shape 85">
              <a:extLst>
                <a:ext uri="{FF2B5EF4-FFF2-40B4-BE49-F238E27FC236}">
                  <a16:creationId xmlns:a16="http://schemas.microsoft.com/office/drawing/2014/main" id="{FA2418BB-526E-1521-26DA-56C9451F7B43}"/>
                </a:ext>
              </a:extLst>
            </p:cNvPr>
            <p:cNvSpPr/>
            <p:nvPr/>
          </p:nvSpPr>
          <p:spPr>
            <a:xfrm>
              <a:off x="5657526" y="4913229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4</a:t>
              </a:r>
            </a:p>
          </p:txBody>
        </p:sp>
        <p:sp>
          <p:nvSpPr>
            <p:cNvPr id="155" name="Shape 85">
              <a:extLst>
                <a:ext uri="{FF2B5EF4-FFF2-40B4-BE49-F238E27FC236}">
                  <a16:creationId xmlns:a16="http://schemas.microsoft.com/office/drawing/2014/main" id="{E2EAD26D-BF36-FA57-C1FA-4DD82E532199}"/>
                </a:ext>
              </a:extLst>
            </p:cNvPr>
            <p:cNvSpPr/>
            <p:nvPr/>
          </p:nvSpPr>
          <p:spPr>
            <a:xfrm>
              <a:off x="3713452" y="3945256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5</a:t>
              </a:r>
            </a:p>
          </p:txBody>
        </p:sp>
        <p:sp>
          <p:nvSpPr>
            <p:cNvPr id="156" name="Shape 85">
              <a:extLst>
                <a:ext uri="{FF2B5EF4-FFF2-40B4-BE49-F238E27FC236}">
                  <a16:creationId xmlns:a16="http://schemas.microsoft.com/office/drawing/2014/main" id="{A464AFF9-5202-90E1-7121-BFCF4D31CD6F}"/>
                </a:ext>
              </a:extLst>
            </p:cNvPr>
            <p:cNvSpPr/>
            <p:nvPr/>
          </p:nvSpPr>
          <p:spPr>
            <a:xfrm>
              <a:off x="3688232" y="2516300"/>
              <a:ext cx="356616" cy="356616"/>
            </a:xfrm>
            <a:prstGeom prst="ellipse">
              <a:avLst/>
            </a:prstGeom>
            <a:solidFill>
              <a:srgbClr val="F4BD42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200" b="1" dirty="0">
                  <a:latin typeface="Avenir Next" panose="020B0503020202020204" pitchFamily="34" charset="0"/>
                </a:rPr>
                <a:t>6</a:t>
              </a:r>
            </a:p>
          </p:txBody>
        </p:sp>
      </p:grpSp>
      <p:sp>
        <p:nvSpPr>
          <p:cNvPr id="158" name="Shape 3">
            <a:extLst>
              <a:ext uri="{FF2B5EF4-FFF2-40B4-BE49-F238E27FC236}">
                <a16:creationId xmlns:a16="http://schemas.microsoft.com/office/drawing/2014/main" id="{460A5408-57A0-1BC0-FFB0-5281F7E7520C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4">
            <a:extLst>
              <a:ext uri="{FF2B5EF4-FFF2-40B4-BE49-F238E27FC236}">
                <a16:creationId xmlns:a16="http://schemas.microsoft.com/office/drawing/2014/main" id="{D5766E5A-AA6C-EF18-0BA3-59FFCEB3DABE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53939-290D-A27E-AE0B-29D8A3985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28" y="2360500"/>
            <a:ext cx="4255615" cy="2037137"/>
          </a:xfrm>
          <a:prstGeom prst="rect">
            <a:avLst/>
          </a:prstGeom>
        </p:spPr>
      </p:pic>
      <p:pic>
        <p:nvPicPr>
          <p:cNvPr id="6" name="Graphic 5" descr="Deciduous tree outline">
            <a:extLst>
              <a:ext uri="{FF2B5EF4-FFF2-40B4-BE49-F238E27FC236}">
                <a16:creationId xmlns:a16="http://schemas.microsoft.com/office/drawing/2014/main" id="{3CFB781D-792B-DB04-25ED-7B4CD46DD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048" y="5082324"/>
            <a:ext cx="769201" cy="7692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6652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22232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Required systems implemented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F35C099-DC84-EB75-DFC7-EC04DFC8B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9497"/>
              </p:ext>
            </p:extLst>
          </p:nvPr>
        </p:nvGraphicFramePr>
        <p:xfrm>
          <a:off x="621792" y="2642470"/>
          <a:ext cx="10835640" cy="285861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88951">
                  <a:extLst>
                    <a:ext uri="{9D8B030D-6E8A-4147-A177-3AD203B41FA5}">
                      <a16:colId xmlns:a16="http://schemas.microsoft.com/office/drawing/2014/main" val="3659156068"/>
                    </a:ext>
                  </a:extLst>
                </a:gridCol>
                <a:gridCol w="7146689">
                  <a:extLst>
                    <a:ext uri="{9D8B030D-6E8A-4147-A177-3AD203B41FA5}">
                      <a16:colId xmlns:a16="http://schemas.microsoft.com/office/drawing/2014/main" val="2853858490"/>
                    </a:ext>
                  </a:extLst>
                </a:gridCol>
              </a:tblGrid>
              <a:tr h="71465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  <a:ea typeface="Aptos" pitchFamily="34" charset="-122"/>
                          <a:cs typeface="Aptos" pitchFamily="34" charset="-120"/>
                        </a:rPr>
                        <a:t>Movement + Object interactions</a:t>
                      </a:r>
                      <a:endParaRPr lang="en-US" sz="2000" b="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793515"/>
                  </a:ext>
                </a:extLst>
              </a:tr>
              <a:tr h="714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venir Next" panose="020B0503020202020204" pitchFamily="34" charset="0"/>
                        </a:rPr>
                        <a:t>Snake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</a:rPr>
                        <a:t>Spawn, Movement</a:t>
                      </a:r>
                      <a:endParaRPr lang="en-US" sz="2000" b="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165340"/>
                  </a:ext>
                </a:extLst>
              </a:tr>
              <a:tr h="714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  <a:ea typeface="Aptos" pitchFamily="34" charset="-122"/>
                          <a:cs typeface="Aptos" pitchFamily="34" charset="-120"/>
                        </a:rPr>
                        <a:t>Game manager</a:t>
                      </a:r>
                      <a:endParaRPr lang="en-US" sz="200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Avenir Next" panose="020B0503020202020204" pitchFamily="34" charset="0"/>
                        </a:rPr>
                        <a:t>Lives(0-3), respawn on fail, next level on 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774928"/>
                  </a:ext>
                </a:extLst>
              </a:tr>
              <a:tr h="714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  <a:ea typeface="Aptos" pitchFamily="34" charset="-122"/>
                          <a:cs typeface="Aptos" pitchFamily="34" charset="-120"/>
                        </a:rPr>
                        <a:t>Events</a:t>
                      </a:r>
                      <a:endParaRPr lang="en-US" sz="200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222326"/>
                          </a:solidFill>
                          <a:latin typeface="Avenir Next" panose="020B0503020202020204" pitchFamily="34" charset="0"/>
                          <a:ea typeface="Aptos" pitchFamily="34" charset="-122"/>
                          <a:cs typeface="Aptos" pitchFamily="34" charset="-120"/>
                        </a:rPr>
                        <a:t>Destination and hazard triggers</a:t>
                      </a:r>
                      <a:endParaRPr lang="en-US" sz="2000" b="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598354"/>
                  </a:ext>
                </a:extLst>
              </a:tr>
            </a:tbl>
          </a:graphicData>
        </a:graphic>
      </p:graphicFrame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14921D9-3A47-71EC-FBAF-3B81E4F04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B3611709-7E26-AF66-D380-5E9D0B1330E3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564043E9-83D2-325D-E39A-15293EB6AD06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5071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22232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One improvement after Playtesting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2800666"/>
            <a:ext cx="10835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32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Observation: Players enjoyed the momentum building aspect, and scoring did not reset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" y="2567177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1" y="4093241"/>
            <a:ext cx="111347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400" b="1" dirty="0">
                <a:solidFill>
                  <a:srgbClr val="22232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What I changed</a:t>
            </a:r>
            <a:endParaRPr lang="en-US" sz="2400" dirty="0">
              <a:latin typeface="Avenir Next" panose="020B0503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326"/>
                </a:solidFill>
                <a:latin typeface="Avenir Next" panose="020B0503020202020204" pitchFamily="34" charset="0"/>
              </a:rPr>
              <a:t>Kept original movement mechanics (will still be altered a bit later), and fixed scoring system after a win/loss</a:t>
            </a:r>
            <a:endParaRPr lang="en-US" sz="2400" dirty="0">
              <a:latin typeface="Avenir Next" panose="020B05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1" y="57790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Result to show: </a:t>
            </a:r>
            <a:r>
              <a:rPr lang="en-US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a screenshot, a before/after comparison</a:t>
            </a:r>
            <a:endParaRPr lang="en-US" dirty="0">
              <a:latin typeface="Avenir Next" panose="020B0503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B0A7D2A-3D73-E4AE-3B78-E9977735A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C5049C0-EB95-B819-1215-DCBFE67BBDF9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E017902-0803-0631-ADB1-E7BE0D42CD2E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6652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222326"/>
                </a:solidFill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76986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A short-recorded backup would be helpful, (in case of any issues).</a:t>
            </a:r>
            <a:endParaRPr lang="en-US" sz="1600" dirty="0">
              <a:latin typeface="Avenir Next" panose="020B0503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F44697-83E3-280F-2B23-43A16E3268EC}"/>
              </a:ext>
            </a:extLst>
          </p:cNvPr>
          <p:cNvSpPr txBox="1"/>
          <p:nvPr/>
        </p:nvSpPr>
        <p:spPr>
          <a:xfrm>
            <a:off x="621793" y="2390454"/>
            <a:ext cx="54742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Avenir Next" panose="020B0503020202020204" pitchFamily="34" charset="0"/>
            </a:endParaRPr>
          </a:p>
          <a:p>
            <a:endParaRPr lang="en-US" sz="2800" dirty="0">
              <a:latin typeface="Avenir Next" panose="020B050302020202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88A4476-5501-8B5D-7363-F22707BE2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FC5096BE-28D1-E50D-054E-ED08841D9CE5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C6DA6852-695D-CA7E-7993-2AA39C5DEB50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38EB0-06EF-34F8-2437-04BDA96BE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654" y="2175508"/>
            <a:ext cx="7070772" cy="3443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1371442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What would I improve next?</a:t>
            </a:r>
            <a:endParaRPr lang="en-US" sz="4000" dirty="0">
              <a:latin typeface="Avenir Next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2414016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latin typeface="Avenir Next" panose="020B0503020202020204" pitchFamily="34" charset="0"/>
              </a:rPr>
              <a:t>I would like to make a more snake looking prefab with animation for the snake obstacles, and make it so that the level generates as the player moves through it. </a:t>
            </a:r>
          </a:p>
        </p:txBody>
      </p:sp>
      <p:sp>
        <p:nvSpPr>
          <p:cNvPr id="11" name="Text 9"/>
          <p:cNvSpPr/>
          <p:nvPr/>
        </p:nvSpPr>
        <p:spPr>
          <a:xfrm>
            <a:off x="713232" y="5513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Avenir Next" panose="020B0503020202020204" pitchFamily="34" charset="0"/>
                <a:ea typeface="Aptos" pitchFamily="34" charset="-122"/>
                <a:cs typeface="Aptos" pitchFamily="34" charset="-120"/>
              </a:rPr>
              <a:t>Thanks! Questions?</a:t>
            </a:r>
            <a:endParaRPr lang="en-US" sz="2200" dirty="0">
              <a:latin typeface="Avenir Next" panose="020B0503020202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EABC06-A249-D62F-947A-502DD42A4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C397866-4220-1A49-9E3D-1BFC240C11A2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519DB0C5-3184-A959-7729-14C36EFC2137}"/>
              </a:ext>
            </a:extLst>
          </p:cNvPr>
          <p:cNvSpPr/>
          <p:nvPr/>
        </p:nvSpPr>
        <p:spPr>
          <a:xfrm>
            <a:off x="621792" y="721069"/>
            <a:ext cx="10917936" cy="0"/>
          </a:xfrm>
          <a:prstGeom prst="line">
            <a:avLst/>
          </a:prstGeom>
          <a:noFill/>
          <a:ln w="12700">
            <a:solidFill>
              <a:srgbClr val="D9D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9EC59C8-A05C-0BC0-0B2F-A110EBE4B9DF}"/>
              </a:ext>
            </a:extLst>
          </p:cNvPr>
          <p:cNvSpPr/>
          <p:nvPr/>
        </p:nvSpPr>
        <p:spPr>
          <a:xfrm>
            <a:off x="4224528" y="460465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latin typeface="Aptos" pitchFamily="34" charset="0"/>
                <a:ea typeface="Aptos" pitchFamily="34" charset="-122"/>
                <a:cs typeface="Aptos" pitchFamily="34" charset="-120"/>
              </a:rPr>
              <a:t>CMP_SC / INFOTC 4630  ·  GAME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324</Words>
  <Application>Microsoft Office PowerPoint</Application>
  <PresentationFormat>Widescreen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Prototype I – Delivery Disaster | Example Presentation</dc:title>
  <dc:subject>Example Prototype I presentation for CMP_SC / INFOTC 4630</dc:subject>
  <dc:creator>OpenAI</dc:creator>
  <cp:lastModifiedBy>Blank, Kyle (MU-Student)</cp:lastModifiedBy>
  <cp:revision>69</cp:revision>
  <dcterms:created xsi:type="dcterms:W3CDTF">2026-10-19T16:06:27Z</dcterms:created>
  <dcterms:modified xsi:type="dcterms:W3CDTF">2026-10-29T23:35:15Z</dcterms:modified>
</cp:coreProperties>
</file>